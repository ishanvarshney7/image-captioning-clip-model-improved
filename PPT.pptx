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67" r:id="rId2"/>
    <p:sldId id="268" r:id="rId3"/>
    <p:sldId id="271" r:id="rId4"/>
    <p:sldId id="263" r:id="rId5"/>
    <p:sldId id="265" r:id="rId6"/>
    <p:sldId id="282" r:id="rId7"/>
    <p:sldId id="284" r:id="rId8"/>
    <p:sldId id="285" r:id="rId9"/>
    <p:sldId id="286" r:id="rId10"/>
    <p:sldId id="287" r:id="rId11"/>
    <p:sldId id="289" r:id="rId12"/>
    <p:sldId id="292" r:id="rId13"/>
    <p:sldId id="288" r:id="rId14"/>
    <p:sldId id="290" r:id="rId15"/>
    <p:sldId id="291" r:id="rId16"/>
    <p:sldId id="293"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6" d="100"/>
          <a:sy n="56" d="100"/>
        </p:scale>
        <p:origin x="10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AAD347D-5ACD-4C99-B74B-A9C85AD731AF}" type="datetimeFigureOut">
              <a:rPr lang="en-US" dirty="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923800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p>
            <a:fld id="{4509A250-FF31-4206-8172-F9D3106AACB1}" type="datetimeFigureOut">
              <a:rPr lang="en-US" dirty="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307352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384304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96027F-7875-4030-9381-8BD8C4F21935}" type="datetimeFigureOut">
              <a:rPr lang="en-US" dirty="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960102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96027F-7875-4030-9381-8BD8C4F21935}" type="datetimeFigureOut">
              <a:rPr lang="en-US" dirty="0"/>
              <a:t>11/12/2024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730918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2"/>
          <p:cNvSpPr>
            <a:spLocks noGrp="1"/>
          </p:cNvSpPr>
          <p:nvPr>
            <p:ph type="dt" sz="half" idx="10"/>
          </p:nvPr>
        </p:nvSpPr>
        <p:spPr/>
        <p:txBody>
          <a:bodyPr/>
          <a:lstStyle/>
          <a:p>
            <a:fld id="{4509A250-FF31-4206-8172-F9D3106AACB1}" type="datetimeFigureOut">
              <a:rPr lang="en-US" dirty="0"/>
              <a:t>11/12/2024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363802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11/12/2024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858516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11/12/2024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449699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600014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25039047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3555213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3220905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4143994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11/12/2024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8704243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11/12/2024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077999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85978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09A250-FF31-4206-8172-F9D3106AACB1}" type="datetimeFigureOut">
              <a:rPr lang="en-US" dirty="0"/>
              <a:t>11/12/2024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a:p>
        </p:txBody>
      </p:sp>
    </p:spTree>
    <p:extLst>
      <p:ext uri="{BB962C8B-B14F-4D97-AF65-F5344CB8AC3E}">
        <p14:creationId xmlns:p14="http://schemas.microsoft.com/office/powerpoint/2010/main" val="1614966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11/12/2024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a:p>
        </p:txBody>
      </p:sp>
    </p:spTree>
    <p:extLst>
      <p:ext uri="{BB962C8B-B14F-4D97-AF65-F5344CB8AC3E}">
        <p14:creationId xmlns:p14="http://schemas.microsoft.com/office/powerpoint/2010/main" val="925113599"/>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DB6CA-B7CF-1B5F-BBB8-CC2BB29EAEBB}"/>
              </a:ext>
            </a:extLst>
          </p:cNvPr>
          <p:cNvSpPr>
            <a:spLocks noGrp="1"/>
          </p:cNvSpPr>
          <p:nvPr>
            <p:ph type="title"/>
          </p:nvPr>
        </p:nvSpPr>
        <p:spPr/>
        <p:txBody>
          <a:bodyPr/>
          <a:lstStyle/>
          <a:p>
            <a:r>
              <a:rPr lang="en-US" sz="5400" b="1"/>
              <a:t>Image Captioning</a:t>
            </a:r>
          </a:p>
        </p:txBody>
      </p:sp>
      <p:sp>
        <p:nvSpPr>
          <p:cNvPr id="3" name="Content Placeholder 2">
            <a:extLst>
              <a:ext uri="{FF2B5EF4-FFF2-40B4-BE49-F238E27FC236}">
                <a16:creationId xmlns:a16="http://schemas.microsoft.com/office/drawing/2014/main" id="{F145F563-F90D-EF97-C1AD-5F18E2A457C8}"/>
              </a:ext>
            </a:extLst>
          </p:cNvPr>
          <p:cNvSpPr>
            <a:spLocks noGrp="1"/>
          </p:cNvSpPr>
          <p:nvPr>
            <p:ph idx="1"/>
          </p:nvPr>
        </p:nvSpPr>
        <p:spPr>
          <a:xfrm>
            <a:off x="1103312" y="2052918"/>
            <a:ext cx="10647236" cy="4195481"/>
          </a:xfrm>
        </p:spPr>
        <p:txBody>
          <a:bodyPr vert="horz" lIns="91440" tIns="45720" rIns="91440" bIns="45720" rtlCol="0" anchor="t">
            <a:normAutofit/>
          </a:bodyPr>
          <a:lstStyle/>
          <a:p>
            <a:endParaRPr lang="en-US" sz="1500" cap="all"/>
          </a:p>
          <a:p>
            <a:pPr>
              <a:buClr>
                <a:srgbClr val="8AD0D6"/>
              </a:buClr>
            </a:pPr>
            <a:endParaRPr lang="en-US" sz="1500" cap="all"/>
          </a:p>
          <a:p>
            <a:pPr marL="0" indent="0">
              <a:buClr>
                <a:srgbClr val="8AD0D6"/>
              </a:buClr>
              <a:buNone/>
            </a:pPr>
            <a:r>
              <a:rPr lang="en-US" sz="2400" b="1" cap="all"/>
              <a:t>    Perceptron</a:t>
            </a:r>
          </a:p>
          <a:p>
            <a:pPr>
              <a:buClr>
                <a:srgbClr val="8AD0D6"/>
              </a:buClr>
            </a:pPr>
            <a:r>
              <a:rPr lang="en-US" sz="1800" cap="all"/>
              <a:t>Manideep G (244101027)</a:t>
            </a:r>
            <a:endParaRPr lang="en-US" sz="1800"/>
          </a:p>
          <a:p>
            <a:pPr>
              <a:buClr>
                <a:srgbClr val="8AD0D6"/>
              </a:buClr>
            </a:pPr>
            <a:r>
              <a:rPr lang="en-US" sz="1800" cap="all"/>
              <a:t>Ishan Varshney (244101022)</a:t>
            </a:r>
            <a:endParaRPr lang="en-US" sz="1800"/>
          </a:p>
          <a:p>
            <a:pPr>
              <a:buClr>
                <a:srgbClr val="8AD0D6"/>
              </a:buClr>
            </a:pPr>
            <a:r>
              <a:rPr lang="en-US" sz="1800" cap="all"/>
              <a:t>Priyanshu Shrivastav (244101033)</a:t>
            </a:r>
            <a:endParaRPr lang="en-US" sz="1800"/>
          </a:p>
          <a:p>
            <a:pPr>
              <a:buClr>
                <a:srgbClr val="8AD0D6"/>
              </a:buClr>
            </a:pPr>
            <a:r>
              <a:rPr lang="en-US" sz="1800" cap="all"/>
              <a:t>Hemanth Prakash S (244101021)</a:t>
            </a:r>
            <a:endParaRPr lang="en-US" sz="1800"/>
          </a:p>
          <a:p>
            <a:pPr>
              <a:buClr>
                <a:srgbClr val="8AD0D6"/>
              </a:buClr>
            </a:pPr>
            <a:r>
              <a:rPr lang="en-US" sz="1800" cap="all"/>
              <a:t>P Sai Kiran Chary (244101031)</a:t>
            </a:r>
            <a:endParaRPr lang="en-US" sz="1800"/>
          </a:p>
        </p:txBody>
      </p:sp>
      <p:pic>
        <p:nvPicPr>
          <p:cNvPr id="4" name="Picture 3" descr="A group of men sitting in chairs&#10;&#10;Description automatically generated">
            <a:extLst>
              <a:ext uri="{FF2B5EF4-FFF2-40B4-BE49-F238E27FC236}">
                <a16:creationId xmlns:a16="http://schemas.microsoft.com/office/drawing/2014/main" id="{4CD0D980-6B42-661C-76EC-434AD5317D3B}"/>
              </a:ext>
            </a:extLst>
          </p:cNvPr>
          <p:cNvPicPr>
            <a:picLocks noChangeAspect="1"/>
          </p:cNvPicPr>
          <p:nvPr/>
        </p:nvPicPr>
        <p:blipFill>
          <a:blip r:embed="rId2"/>
          <a:stretch>
            <a:fillRect/>
          </a:stretch>
        </p:blipFill>
        <p:spPr>
          <a:xfrm>
            <a:off x="6565408" y="2056158"/>
            <a:ext cx="4450254" cy="3525147"/>
          </a:xfrm>
          <a:prstGeom prst="rect">
            <a:avLst/>
          </a:prstGeom>
        </p:spPr>
      </p:pic>
    </p:spTree>
    <p:extLst>
      <p:ext uri="{BB962C8B-B14F-4D97-AF65-F5344CB8AC3E}">
        <p14:creationId xmlns:p14="http://schemas.microsoft.com/office/powerpoint/2010/main" val="22141473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6AD9A7-FFC8-EEC6-D736-0C91445FECD9}"/>
              </a:ext>
            </a:extLst>
          </p:cNvPr>
          <p:cNvSpPr>
            <a:spLocks noGrp="1"/>
          </p:cNvSpPr>
          <p:nvPr>
            <p:ph idx="1"/>
          </p:nvPr>
        </p:nvSpPr>
        <p:spPr>
          <a:xfrm>
            <a:off x="969447" y="1857270"/>
            <a:ext cx="9399622" cy="4638264"/>
          </a:xfrm>
        </p:spPr>
        <p:txBody>
          <a:bodyPr vert="horz" lIns="91440" tIns="45720" rIns="91440" bIns="45720" rtlCol="0" anchor="t">
            <a:normAutofit/>
          </a:bodyPr>
          <a:lstStyle/>
          <a:p>
            <a:r>
              <a:rPr lang="en-US" sz="1800" b="1">
                <a:ea typeface="+mj-lt"/>
                <a:cs typeface="+mj-lt"/>
              </a:rPr>
              <a:t>Objective</a:t>
            </a:r>
            <a:r>
              <a:rPr lang="en-US" sz="1800">
                <a:ea typeface="+mj-lt"/>
                <a:cs typeface="+mj-lt"/>
              </a:rPr>
              <a:t>: Generate captions for images using minimal computational</a:t>
            </a:r>
            <a:endParaRPr lang="en-US">
              <a:ea typeface="+mj-lt"/>
              <a:cs typeface="+mj-lt"/>
            </a:endParaRPr>
          </a:p>
          <a:p>
            <a:pPr marL="0" indent="0">
              <a:buClr>
                <a:srgbClr val="8AD0D6"/>
              </a:buClr>
              <a:buNone/>
            </a:pPr>
            <a:r>
              <a:rPr lang="en-US" sz="1800">
                <a:ea typeface="+mj-lt"/>
                <a:cs typeface="+mj-lt"/>
              </a:rPr>
              <a:t>      resources.</a:t>
            </a:r>
            <a:endParaRPr lang="en-US"/>
          </a:p>
          <a:p>
            <a:pPr>
              <a:buClr>
                <a:srgbClr val="8AD0D6"/>
              </a:buClr>
            </a:pPr>
            <a:r>
              <a:rPr lang="en-US" sz="1800" b="1">
                <a:ea typeface="+mj-lt"/>
                <a:cs typeface="+mj-lt"/>
              </a:rPr>
              <a:t>Model</a:t>
            </a:r>
            <a:r>
              <a:rPr lang="en-US" sz="1800">
                <a:ea typeface="+mj-lt"/>
                <a:cs typeface="+mj-lt"/>
              </a:rPr>
              <a:t>: Pre-trained Vision-Language models (e.g., CLIP, BLIP).</a:t>
            </a:r>
            <a:endParaRPr lang="en-US"/>
          </a:p>
          <a:p>
            <a:pPr>
              <a:buClr>
                <a:srgbClr val="8AD0D6"/>
              </a:buClr>
            </a:pPr>
            <a:r>
              <a:rPr lang="en-US" sz="1800" b="1">
                <a:ea typeface="+mj-lt"/>
                <a:cs typeface="+mj-lt"/>
              </a:rPr>
              <a:t>Focus</a:t>
            </a:r>
            <a:r>
              <a:rPr lang="en-US" sz="1800">
                <a:ea typeface="+mj-lt"/>
                <a:cs typeface="+mj-lt"/>
              </a:rPr>
              <a:t>: Leverage lightweight models or few-shot learning techniques.</a:t>
            </a:r>
            <a:endParaRPr lang="en-US">
              <a:ea typeface="+mj-lt"/>
              <a:cs typeface="+mj-lt"/>
            </a:endParaRPr>
          </a:p>
          <a:p>
            <a:pPr marL="0" indent="0">
              <a:buNone/>
            </a:pPr>
            <a:r>
              <a:rPr lang="en-US" sz="1800">
                <a:ea typeface="+mj-lt"/>
                <a:cs typeface="+mj-lt"/>
              </a:rPr>
              <a:t>     Minimize training time and resource usage while maintaining caption quality.</a:t>
            </a:r>
            <a:endParaRPr lang="en-US">
              <a:ea typeface="+mj-lt"/>
              <a:cs typeface="+mj-lt"/>
            </a:endParaRPr>
          </a:p>
          <a:p>
            <a:pPr>
              <a:buClr>
                <a:srgbClr val="8AD0D6"/>
              </a:buClr>
            </a:pPr>
            <a:r>
              <a:rPr lang="en-US" sz="1800" b="1">
                <a:ea typeface="+mj-lt"/>
                <a:cs typeface="+mj-lt"/>
              </a:rPr>
              <a:t>Evaluation</a:t>
            </a:r>
            <a:r>
              <a:rPr lang="en-US" sz="1800">
                <a:ea typeface="+mj-lt"/>
                <a:cs typeface="+mj-lt"/>
              </a:rPr>
              <a:t>:</a:t>
            </a:r>
            <a:endParaRPr lang="en-US"/>
          </a:p>
          <a:p>
            <a:pPr marL="0" indent="0">
              <a:buClr>
                <a:srgbClr val="8AD0D6"/>
              </a:buClr>
              <a:buNone/>
            </a:pPr>
            <a:r>
              <a:rPr lang="en-US" sz="1800">
                <a:ea typeface="+mj-lt"/>
                <a:cs typeface="+mj-lt"/>
              </a:rPr>
              <a:t>     Compare the performance of simpler models or fine-tuning approaches.</a:t>
            </a:r>
            <a:endParaRPr lang="en-US"/>
          </a:p>
          <a:p>
            <a:pPr marL="0" indent="0">
              <a:buClr>
                <a:srgbClr val="8AD0D6"/>
              </a:buClr>
              <a:buNone/>
            </a:pPr>
            <a:r>
              <a:rPr lang="en-US" sz="1800">
                <a:ea typeface="+mj-lt"/>
                <a:cs typeface="+mj-lt"/>
              </a:rPr>
              <a:t>      Prioritize efficiency without significantly sacrificing caption quality.</a:t>
            </a:r>
            <a:endParaRPr lang="en-US">
              <a:ea typeface="+mj-lt"/>
              <a:cs typeface="+mj-lt"/>
            </a:endParaRPr>
          </a:p>
          <a:p>
            <a:pPr>
              <a:buClr>
                <a:srgbClr val="8AD0D6"/>
              </a:buClr>
            </a:pPr>
            <a:endParaRPr lang="en-US" sz="1800"/>
          </a:p>
        </p:txBody>
      </p:sp>
      <p:sp>
        <p:nvSpPr>
          <p:cNvPr id="7" name="Title 1">
            <a:extLst>
              <a:ext uri="{FF2B5EF4-FFF2-40B4-BE49-F238E27FC236}">
                <a16:creationId xmlns:a16="http://schemas.microsoft.com/office/drawing/2014/main" id="{C29D7E3C-0CE2-BACF-54BC-D8B2E12C4782}"/>
              </a:ext>
            </a:extLst>
          </p:cNvPr>
          <p:cNvSpPr txBox="1">
            <a:spLocks/>
          </p:cNvSpPr>
          <p:nvPr/>
        </p:nvSpPr>
        <p:spPr>
          <a:xfrm>
            <a:off x="3854" y="573932"/>
            <a:ext cx="5763894" cy="783576"/>
          </a:xfrm>
          <a:prstGeom prst="rect">
            <a:avLst/>
          </a:prstGeom>
          <a:ln/>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a:t>Problem Statement</a:t>
            </a:r>
          </a:p>
        </p:txBody>
      </p:sp>
    </p:spTree>
    <p:extLst>
      <p:ext uri="{BB962C8B-B14F-4D97-AF65-F5344CB8AC3E}">
        <p14:creationId xmlns:p14="http://schemas.microsoft.com/office/powerpoint/2010/main" val="540411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computer program&#10;&#10;Description automatically generated">
            <a:extLst>
              <a:ext uri="{FF2B5EF4-FFF2-40B4-BE49-F238E27FC236}">
                <a16:creationId xmlns:a16="http://schemas.microsoft.com/office/drawing/2014/main" id="{07594E14-9232-A38F-C84E-CAF69EDE33DD}"/>
              </a:ext>
            </a:extLst>
          </p:cNvPr>
          <p:cNvPicPr>
            <a:picLocks noGrp="1" noChangeAspect="1"/>
          </p:cNvPicPr>
          <p:nvPr>
            <p:ph idx="1"/>
          </p:nvPr>
        </p:nvPicPr>
        <p:blipFill>
          <a:blip r:embed="rId2"/>
          <a:stretch>
            <a:fillRect/>
          </a:stretch>
        </p:blipFill>
        <p:spPr>
          <a:xfrm>
            <a:off x="648505" y="2273461"/>
            <a:ext cx="4563345" cy="3095367"/>
          </a:xfrm>
        </p:spPr>
      </p:pic>
      <p:pic>
        <p:nvPicPr>
          <p:cNvPr id="5" name="Picture 4" descr="A diagram of a computer&#10;&#10;Description automatically generated">
            <a:extLst>
              <a:ext uri="{FF2B5EF4-FFF2-40B4-BE49-F238E27FC236}">
                <a16:creationId xmlns:a16="http://schemas.microsoft.com/office/drawing/2014/main" id="{409D8109-09DF-F110-8119-721D6238ADE1}"/>
              </a:ext>
            </a:extLst>
          </p:cNvPr>
          <p:cNvPicPr>
            <a:picLocks noChangeAspect="1"/>
          </p:cNvPicPr>
          <p:nvPr/>
        </p:nvPicPr>
        <p:blipFill>
          <a:blip r:embed="rId3"/>
          <a:stretch>
            <a:fillRect/>
          </a:stretch>
        </p:blipFill>
        <p:spPr>
          <a:xfrm>
            <a:off x="5602751" y="1771135"/>
            <a:ext cx="5651178" cy="4088029"/>
          </a:xfrm>
          <a:prstGeom prst="rect">
            <a:avLst/>
          </a:prstGeom>
        </p:spPr>
      </p:pic>
      <p:sp>
        <p:nvSpPr>
          <p:cNvPr id="8" name="Title 1">
            <a:extLst>
              <a:ext uri="{FF2B5EF4-FFF2-40B4-BE49-F238E27FC236}">
                <a16:creationId xmlns:a16="http://schemas.microsoft.com/office/drawing/2014/main" id="{8653154E-166C-1D30-18B1-593461D9BF5A}"/>
              </a:ext>
            </a:extLst>
          </p:cNvPr>
          <p:cNvSpPr txBox="1">
            <a:spLocks/>
          </p:cNvSpPr>
          <p:nvPr/>
        </p:nvSpPr>
        <p:spPr>
          <a:xfrm>
            <a:off x="3854" y="409175"/>
            <a:ext cx="3580867" cy="742387"/>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a:t>CLIP Model</a:t>
            </a:r>
          </a:p>
        </p:txBody>
      </p:sp>
    </p:spTree>
    <p:extLst>
      <p:ext uri="{BB962C8B-B14F-4D97-AF65-F5344CB8AC3E}">
        <p14:creationId xmlns:p14="http://schemas.microsoft.com/office/powerpoint/2010/main" val="1038758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8B5510-11B5-620F-2C18-0CF1E60AB989}"/>
              </a:ext>
            </a:extLst>
          </p:cNvPr>
          <p:cNvSpPr>
            <a:spLocks noGrp="1"/>
          </p:cNvSpPr>
          <p:nvPr>
            <p:ph idx="1"/>
          </p:nvPr>
        </p:nvSpPr>
        <p:spPr>
          <a:xfrm>
            <a:off x="1103312" y="1394454"/>
            <a:ext cx="8946541" cy="4916292"/>
          </a:xfrm>
        </p:spPr>
        <p:txBody>
          <a:bodyPr vert="horz" lIns="91440" tIns="45720" rIns="91440" bIns="45720" rtlCol="0" anchor="t">
            <a:normAutofit fontScale="92500"/>
          </a:bodyPr>
          <a:lstStyle/>
          <a:p>
            <a:pPr marL="0" indent="0">
              <a:buNone/>
            </a:pPr>
            <a:r>
              <a:rPr lang="en-US" sz="2400" b="1">
                <a:ea typeface="+mn-lt"/>
                <a:cs typeface="+mn-lt"/>
              </a:rPr>
              <a:t>Introduction:</a:t>
            </a:r>
            <a:endParaRPr lang="en-US" sz="2400"/>
          </a:p>
          <a:p>
            <a:r>
              <a:rPr lang="en-US" sz="2000" b="1">
                <a:ea typeface="+mn-lt"/>
                <a:cs typeface="+mn-lt"/>
              </a:rPr>
              <a:t>Image Captioning</a:t>
            </a:r>
            <a:r>
              <a:rPr lang="en-US" sz="2000">
                <a:ea typeface="+mn-lt"/>
                <a:cs typeface="+mn-lt"/>
              </a:rPr>
              <a:t>:</a:t>
            </a:r>
            <a:r>
              <a:rPr lang="en-US">
                <a:ea typeface="+mn-lt"/>
                <a:cs typeface="+mn-lt"/>
              </a:rPr>
              <a:t> </a:t>
            </a:r>
            <a:r>
              <a:rPr lang="en-US" sz="1800">
                <a:ea typeface="+mn-lt"/>
                <a:cs typeface="+mn-lt"/>
              </a:rPr>
              <a:t>Standard models often miss detailed aspects of images, </a:t>
            </a:r>
          </a:p>
          <a:p>
            <a:pPr marL="0" indent="0">
              <a:buClr>
                <a:srgbClr val="8AD0D6"/>
              </a:buClr>
              <a:buNone/>
            </a:pPr>
            <a:r>
              <a:rPr lang="en-US" sz="1800">
                <a:ea typeface="+mn-lt"/>
                <a:cs typeface="+mn-lt"/>
              </a:rPr>
              <a:t>      focusing on common objects due to training with text similarity objectives.</a:t>
            </a:r>
            <a:endParaRPr lang="en-US" sz="1800"/>
          </a:p>
          <a:p>
            <a:r>
              <a:rPr lang="en-US" sz="2000" b="1">
                <a:ea typeface="+mn-lt"/>
                <a:cs typeface="+mn-lt"/>
              </a:rPr>
              <a:t>CLIP-based Approach</a:t>
            </a:r>
            <a:r>
              <a:rPr lang="en-US" sz="2000">
                <a:ea typeface="+mn-lt"/>
                <a:cs typeface="+mn-lt"/>
              </a:rPr>
              <a:t>:</a:t>
            </a:r>
            <a:r>
              <a:rPr lang="en-US" sz="1800">
                <a:ea typeface="+mn-lt"/>
                <a:cs typeface="+mn-lt"/>
              </a:rPr>
              <a:t> Uses </a:t>
            </a:r>
            <a:r>
              <a:rPr lang="en-US" sz="1800" b="1">
                <a:ea typeface="+mn-lt"/>
                <a:cs typeface="+mn-lt"/>
              </a:rPr>
              <a:t>CLIP</a:t>
            </a:r>
            <a:r>
              <a:rPr lang="en-US" sz="1800">
                <a:ea typeface="+mn-lt"/>
                <a:cs typeface="+mn-lt"/>
              </a:rPr>
              <a:t> (a multimodal encoder trained on large </a:t>
            </a:r>
          </a:p>
          <a:p>
            <a:pPr marL="0" indent="0">
              <a:buClr>
                <a:srgbClr val="8AD0D6"/>
              </a:buClr>
              <a:buNone/>
            </a:pPr>
            <a:r>
              <a:rPr lang="en-US" sz="1800">
                <a:ea typeface="+mn-lt"/>
                <a:cs typeface="+mn-lt"/>
              </a:rPr>
              <a:t>       image-text datasets) to calculate image-text similarity and guide more </a:t>
            </a:r>
          </a:p>
          <a:p>
            <a:pPr marL="0" indent="0">
              <a:buNone/>
            </a:pPr>
            <a:r>
              <a:rPr lang="en-US" sz="1800">
                <a:ea typeface="+mn-lt"/>
                <a:cs typeface="+mn-lt"/>
              </a:rPr>
              <a:t>       distinctive, fine-grained captions.</a:t>
            </a:r>
            <a:endParaRPr lang="en-US" sz="1800"/>
          </a:p>
          <a:p>
            <a:r>
              <a:rPr lang="en-US" sz="2000" b="1">
                <a:ea typeface="+mn-lt"/>
                <a:cs typeface="+mn-lt"/>
              </a:rPr>
              <a:t>Key Innovations</a:t>
            </a:r>
            <a:r>
              <a:rPr lang="en-US" sz="2000">
                <a:ea typeface="+mn-lt"/>
                <a:cs typeface="+mn-lt"/>
              </a:rPr>
              <a:t>:</a:t>
            </a:r>
            <a:endParaRPr lang="en-US" sz="2000"/>
          </a:p>
          <a:p>
            <a:pPr lvl="1"/>
            <a:r>
              <a:rPr lang="en-US" sz="2000" b="1">
                <a:ea typeface="+mn-lt"/>
                <a:cs typeface="+mn-lt"/>
              </a:rPr>
              <a:t>CLIP Reward</a:t>
            </a:r>
            <a:r>
              <a:rPr lang="en-US" sz="2000">
                <a:ea typeface="+mn-lt"/>
                <a:cs typeface="+mn-lt"/>
              </a:rPr>
              <a:t>:</a:t>
            </a:r>
            <a:r>
              <a:rPr lang="en-US" sz="1800">
                <a:ea typeface="+mn-lt"/>
                <a:cs typeface="+mn-lt"/>
              </a:rPr>
              <a:t> Encourages the generation of descriptive captions without </a:t>
            </a:r>
            <a:endParaRPr lang="en-US">
              <a:ea typeface="+mn-lt"/>
              <a:cs typeface="+mn-lt"/>
            </a:endParaRPr>
          </a:p>
          <a:p>
            <a:pPr marL="457200" lvl="1" indent="0">
              <a:buClr>
                <a:srgbClr val="8AD0D6"/>
              </a:buClr>
              <a:buNone/>
            </a:pPr>
            <a:r>
              <a:rPr lang="en-US">
                <a:ea typeface="+mn-lt"/>
                <a:cs typeface="+mn-lt"/>
              </a:rPr>
              <a:t>     </a:t>
            </a:r>
            <a:r>
              <a:rPr lang="en-US" sz="1800">
                <a:ea typeface="+mn-lt"/>
                <a:cs typeface="+mn-lt"/>
              </a:rPr>
              <a:t>relying on reference captions.</a:t>
            </a:r>
            <a:endParaRPr lang="en-US" sz="1800"/>
          </a:p>
          <a:p>
            <a:pPr lvl="1"/>
            <a:r>
              <a:rPr lang="en-US" sz="2000" b="1">
                <a:ea typeface="+mn-lt"/>
                <a:cs typeface="+mn-lt"/>
              </a:rPr>
              <a:t>Grammar Finetuning</a:t>
            </a:r>
            <a:r>
              <a:rPr lang="en-US" sz="2000">
                <a:ea typeface="+mn-lt"/>
                <a:cs typeface="+mn-lt"/>
              </a:rPr>
              <a:t>: </a:t>
            </a:r>
            <a:r>
              <a:rPr lang="en-US" sz="1800">
                <a:ea typeface="+mn-lt"/>
                <a:cs typeface="+mn-lt"/>
              </a:rPr>
              <a:t>Improves caption grammar by finetuning the CLIP </a:t>
            </a:r>
            <a:endParaRPr lang="en-US">
              <a:ea typeface="+mn-lt"/>
              <a:cs typeface="+mn-lt"/>
            </a:endParaRPr>
          </a:p>
          <a:p>
            <a:pPr marL="457200" lvl="1" indent="0">
              <a:buClr>
                <a:srgbClr val="8AD0D6"/>
              </a:buClr>
              <a:buNone/>
            </a:pPr>
            <a:r>
              <a:rPr lang="en-US">
                <a:ea typeface="+mn-lt"/>
                <a:cs typeface="+mn-lt"/>
              </a:rPr>
              <a:t>     </a:t>
            </a:r>
            <a:r>
              <a:rPr lang="en-US" sz="1800">
                <a:ea typeface="+mn-lt"/>
                <a:cs typeface="+mn-lt"/>
              </a:rPr>
              <a:t>text encoder, eliminating repetitive and ungrammatical outputs.</a:t>
            </a:r>
            <a:endParaRPr lang="en-US" sz="1800"/>
          </a:p>
          <a:p>
            <a:endParaRPr lang="en-US"/>
          </a:p>
        </p:txBody>
      </p:sp>
      <p:sp>
        <p:nvSpPr>
          <p:cNvPr id="5" name="Title 1">
            <a:extLst>
              <a:ext uri="{FF2B5EF4-FFF2-40B4-BE49-F238E27FC236}">
                <a16:creationId xmlns:a16="http://schemas.microsoft.com/office/drawing/2014/main" id="{72E0A22C-6E6A-2B82-F38E-974B3D4598B9}"/>
              </a:ext>
            </a:extLst>
          </p:cNvPr>
          <p:cNvSpPr txBox="1">
            <a:spLocks/>
          </p:cNvSpPr>
          <p:nvPr/>
        </p:nvSpPr>
        <p:spPr>
          <a:xfrm>
            <a:off x="3854" y="532742"/>
            <a:ext cx="8945757" cy="608522"/>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3000" b="1">
                <a:solidFill>
                  <a:srgbClr val="EBEBEB"/>
                </a:solidFill>
                <a:latin typeface="Aptos"/>
              </a:rPr>
              <a:t>Fine-grained Image Captioning with CLIP Reward</a:t>
            </a:r>
            <a:endParaRPr lang="en-US" sz="3000">
              <a:solidFill>
                <a:srgbClr val="000000"/>
              </a:solidFill>
              <a:latin typeface="Aptos"/>
            </a:endParaRPr>
          </a:p>
        </p:txBody>
      </p:sp>
    </p:spTree>
    <p:extLst>
      <p:ext uri="{BB962C8B-B14F-4D97-AF65-F5344CB8AC3E}">
        <p14:creationId xmlns:p14="http://schemas.microsoft.com/office/powerpoint/2010/main" val="2109963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diagram&#10;&#10;Description automatically generated">
            <a:extLst>
              <a:ext uri="{FF2B5EF4-FFF2-40B4-BE49-F238E27FC236}">
                <a16:creationId xmlns:a16="http://schemas.microsoft.com/office/drawing/2014/main" id="{84C27167-47F2-7B0B-C6E7-048737D088A2}"/>
              </a:ext>
            </a:extLst>
          </p:cNvPr>
          <p:cNvPicPr>
            <a:picLocks noChangeAspect="1"/>
          </p:cNvPicPr>
          <p:nvPr/>
        </p:nvPicPr>
        <p:blipFill>
          <a:blip r:embed="rId2"/>
          <a:stretch>
            <a:fillRect/>
          </a:stretch>
        </p:blipFill>
        <p:spPr>
          <a:xfrm>
            <a:off x="2144080" y="1709994"/>
            <a:ext cx="8619942" cy="4796372"/>
          </a:xfrm>
          <a:prstGeom prst="rect">
            <a:avLst/>
          </a:prstGeom>
        </p:spPr>
      </p:pic>
      <p:sp>
        <p:nvSpPr>
          <p:cNvPr id="17" name="Title 1">
            <a:extLst>
              <a:ext uri="{FF2B5EF4-FFF2-40B4-BE49-F238E27FC236}">
                <a16:creationId xmlns:a16="http://schemas.microsoft.com/office/drawing/2014/main" id="{51F87E51-85C7-7830-63BA-BDE8052B14D5}"/>
              </a:ext>
            </a:extLst>
          </p:cNvPr>
          <p:cNvSpPr txBox="1">
            <a:spLocks/>
          </p:cNvSpPr>
          <p:nvPr/>
        </p:nvSpPr>
        <p:spPr>
          <a:xfrm>
            <a:off x="3854" y="532742"/>
            <a:ext cx="8064015" cy="1000407"/>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3000" b="1">
                <a:solidFill>
                  <a:srgbClr val="EBEBEB"/>
                </a:solidFill>
                <a:latin typeface="Aptos"/>
              </a:rPr>
              <a:t>Architecture of Fine-grained Image Captioning with CLIP Reward</a:t>
            </a:r>
            <a:endParaRPr lang="en-US" sz="3000">
              <a:solidFill>
                <a:srgbClr val="000000"/>
              </a:solidFill>
              <a:latin typeface="Aptos"/>
            </a:endParaRPr>
          </a:p>
        </p:txBody>
      </p:sp>
    </p:spTree>
    <p:extLst>
      <p:ext uri="{BB962C8B-B14F-4D97-AF65-F5344CB8AC3E}">
        <p14:creationId xmlns:p14="http://schemas.microsoft.com/office/powerpoint/2010/main" val="16701325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D6815E-27FC-EEF8-51B9-8602AB6D7F0E}"/>
              </a:ext>
            </a:extLst>
          </p:cNvPr>
          <p:cNvSpPr>
            <a:spLocks noGrp="1"/>
          </p:cNvSpPr>
          <p:nvPr>
            <p:ph idx="1"/>
          </p:nvPr>
        </p:nvSpPr>
        <p:spPr>
          <a:xfrm>
            <a:off x="897367" y="2310351"/>
            <a:ext cx="10841242" cy="3062777"/>
          </a:xfrm>
        </p:spPr>
        <p:txBody>
          <a:bodyPr vert="horz" lIns="91440" tIns="45720" rIns="91440" bIns="45720" rtlCol="0" anchor="t">
            <a:noAutofit/>
          </a:bodyPr>
          <a:lstStyle/>
          <a:p>
            <a:pPr>
              <a:buClr>
                <a:srgbClr val="8AD0D6"/>
              </a:buClr>
            </a:pPr>
            <a:r>
              <a:rPr lang="en-US" sz="3000" b="1" dirty="0">
                <a:solidFill>
                  <a:srgbClr val="FFFFFF"/>
                </a:solidFill>
                <a:latin typeface="Century Gothic"/>
              </a:rPr>
              <a:t>Approach</a:t>
            </a:r>
            <a:r>
              <a:rPr lang="en-US" sz="3000" b="1" dirty="0"/>
              <a:t> 1:</a:t>
            </a:r>
            <a:r>
              <a:rPr lang="en-US" sz="3000" dirty="0"/>
              <a:t> Finetuning the model using new image-caption pairs</a:t>
            </a:r>
            <a:endParaRPr lang="en-US" dirty="0"/>
          </a:p>
          <a:p>
            <a:pPr>
              <a:buClr>
                <a:srgbClr val="8AD0D6"/>
              </a:buClr>
            </a:pPr>
            <a:r>
              <a:rPr lang="en-US" sz="3000" b="1" dirty="0">
                <a:solidFill>
                  <a:srgbClr val="FFFFFF"/>
                </a:solidFill>
                <a:latin typeface="Century Gothic"/>
              </a:rPr>
              <a:t>Approach</a:t>
            </a:r>
            <a:r>
              <a:rPr lang="en-US" sz="3000" b="1" dirty="0"/>
              <a:t> 2:</a:t>
            </a:r>
            <a:r>
              <a:rPr lang="en-US" sz="3000" dirty="0"/>
              <a:t> GAN approach</a:t>
            </a:r>
          </a:p>
          <a:p>
            <a:pPr>
              <a:buClr>
                <a:srgbClr val="8AD0D6"/>
              </a:buClr>
            </a:pPr>
            <a:r>
              <a:rPr lang="en-US" sz="3000" b="1" dirty="0">
                <a:solidFill>
                  <a:srgbClr val="FFFFFF"/>
                </a:solidFill>
                <a:latin typeface="Century Gothic"/>
              </a:rPr>
              <a:t>Approach</a:t>
            </a:r>
            <a:r>
              <a:rPr lang="en-US" sz="3000" b="1" dirty="0"/>
              <a:t> 3:</a:t>
            </a:r>
            <a:r>
              <a:rPr lang="en-US" sz="3000" dirty="0"/>
              <a:t> Integrating t5 model</a:t>
            </a:r>
          </a:p>
          <a:p>
            <a:pPr>
              <a:buClr>
                <a:srgbClr val="8AD0D6"/>
              </a:buClr>
            </a:pPr>
            <a:endParaRPr lang="en-US" sz="3000"/>
          </a:p>
          <a:p>
            <a:pPr marL="0" indent="0">
              <a:buNone/>
            </a:pPr>
            <a:endParaRPr lang="en-US" sz="3000"/>
          </a:p>
        </p:txBody>
      </p:sp>
      <p:sp>
        <p:nvSpPr>
          <p:cNvPr id="5" name="Title 1">
            <a:extLst>
              <a:ext uri="{FF2B5EF4-FFF2-40B4-BE49-F238E27FC236}">
                <a16:creationId xmlns:a16="http://schemas.microsoft.com/office/drawing/2014/main" id="{DD861128-0D50-151D-3CF9-16975BF71511}"/>
              </a:ext>
            </a:extLst>
          </p:cNvPr>
          <p:cNvSpPr txBox="1">
            <a:spLocks/>
          </p:cNvSpPr>
          <p:nvPr/>
        </p:nvSpPr>
        <p:spPr>
          <a:xfrm>
            <a:off x="3854" y="738688"/>
            <a:ext cx="3982459" cy="845359"/>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4500" b="1" dirty="0">
                <a:solidFill>
                  <a:srgbClr val="EBEBEB"/>
                </a:solidFill>
                <a:latin typeface="Aptos"/>
              </a:rPr>
              <a:t>Approaches</a:t>
            </a:r>
            <a:endParaRPr lang="en-US" sz="4500" dirty="0"/>
          </a:p>
        </p:txBody>
      </p:sp>
    </p:spTree>
    <p:extLst>
      <p:ext uri="{BB962C8B-B14F-4D97-AF65-F5344CB8AC3E}">
        <p14:creationId xmlns:p14="http://schemas.microsoft.com/office/powerpoint/2010/main" val="955838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diagram of a data processing process&#10;&#10;Description automatically generated">
            <a:extLst>
              <a:ext uri="{FF2B5EF4-FFF2-40B4-BE49-F238E27FC236}">
                <a16:creationId xmlns:a16="http://schemas.microsoft.com/office/drawing/2014/main" id="{C88945FD-5F09-2845-AF72-B382B8D479CF}"/>
              </a:ext>
            </a:extLst>
          </p:cNvPr>
          <p:cNvPicPr>
            <a:picLocks noGrp="1" noChangeAspect="1"/>
          </p:cNvPicPr>
          <p:nvPr>
            <p:ph idx="1"/>
          </p:nvPr>
        </p:nvPicPr>
        <p:blipFill>
          <a:blip r:embed="rId2"/>
          <a:stretch>
            <a:fillRect/>
          </a:stretch>
        </p:blipFill>
        <p:spPr>
          <a:xfrm>
            <a:off x="1779528" y="1828581"/>
            <a:ext cx="7846540" cy="4785668"/>
          </a:xfrm>
        </p:spPr>
      </p:pic>
      <p:sp>
        <p:nvSpPr>
          <p:cNvPr id="6" name="Title 1">
            <a:extLst>
              <a:ext uri="{FF2B5EF4-FFF2-40B4-BE49-F238E27FC236}">
                <a16:creationId xmlns:a16="http://schemas.microsoft.com/office/drawing/2014/main" id="{1549074C-1CCD-8D23-511A-33E5D294E35F}"/>
              </a:ext>
            </a:extLst>
          </p:cNvPr>
          <p:cNvSpPr txBox="1">
            <a:spLocks/>
          </p:cNvSpPr>
          <p:nvPr/>
        </p:nvSpPr>
        <p:spPr>
          <a:xfrm>
            <a:off x="3854" y="223823"/>
            <a:ext cx="7946918" cy="1216062"/>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3500" b="1">
                <a:solidFill>
                  <a:srgbClr val="EBEBEB"/>
                </a:solidFill>
                <a:latin typeface="Aptos"/>
              </a:rPr>
              <a:t>Approach 1: Finetuning the model using custom dataset</a:t>
            </a:r>
          </a:p>
        </p:txBody>
      </p:sp>
    </p:spTree>
    <p:extLst>
      <p:ext uri="{BB962C8B-B14F-4D97-AF65-F5344CB8AC3E}">
        <p14:creationId xmlns:p14="http://schemas.microsoft.com/office/powerpoint/2010/main" val="644172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diagram of a caption generator block&#10;&#10;Description automatically generated">
            <a:extLst>
              <a:ext uri="{FF2B5EF4-FFF2-40B4-BE49-F238E27FC236}">
                <a16:creationId xmlns:a16="http://schemas.microsoft.com/office/drawing/2014/main" id="{28CC879A-1B0F-EB7D-6CA0-59A31A44C28B}"/>
              </a:ext>
            </a:extLst>
          </p:cNvPr>
          <p:cNvPicPr>
            <a:picLocks noGrp="1" noChangeAspect="1"/>
          </p:cNvPicPr>
          <p:nvPr>
            <p:ph idx="1"/>
          </p:nvPr>
        </p:nvPicPr>
        <p:blipFill>
          <a:blip r:embed="rId2"/>
          <a:stretch>
            <a:fillRect/>
          </a:stretch>
        </p:blipFill>
        <p:spPr>
          <a:xfrm>
            <a:off x="798637" y="2262989"/>
            <a:ext cx="10595918" cy="3188392"/>
          </a:xfrm>
        </p:spPr>
      </p:pic>
      <p:sp>
        <p:nvSpPr>
          <p:cNvPr id="10" name="Title 1">
            <a:extLst>
              <a:ext uri="{FF2B5EF4-FFF2-40B4-BE49-F238E27FC236}">
                <a16:creationId xmlns:a16="http://schemas.microsoft.com/office/drawing/2014/main" id="{746235B9-2E6A-C76C-66EC-845491EB8FAE}"/>
              </a:ext>
            </a:extLst>
          </p:cNvPr>
          <p:cNvSpPr txBox="1">
            <a:spLocks/>
          </p:cNvSpPr>
          <p:nvPr/>
        </p:nvSpPr>
        <p:spPr>
          <a:xfrm>
            <a:off x="3854" y="738688"/>
            <a:ext cx="7514432" cy="752684"/>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4000" b="1">
                <a:solidFill>
                  <a:srgbClr val="EBEBEB"/>
                </a:solidFill>
                <a:latin typeface="Aptos"/>
              </a:rPr>
              <a:t>Approach 2: GAN Approach</a:t>
            </a:r>
            <a:endParaRPr lang="en-US" sz="4000"/>
          </a:p>
        </p:txBody>
      </p:sp>
    </p:spTree>
    <p:extLst>
      <p:ext uri="{BB962C8B-B14F-4D97-AF65-F5344CB8AC3E}">
        <p14:creationId xmlns:p14="http://schemas.microsoft.com/office/powerpoint/2010/main" val="2903423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44DB35-2FFB-4FE5-7254-748FA25DF9AD}"/>
              </a:ext>
            </a:extLst>
          </p:cNvPr>
          <p:cNvSpPr>
            <a:spLocks noGrp="1"/>
          </p:cNvSpPr>
          <p:nvPr>
            <p:ph idx="1"/>
          </p:nvPr>
        </p:nvSpPr>
        <p:spPr>
          <a:xfrm>
            <a:off x="1257771" y="1857269"/>
            <a:ext cx="8946541" cy="4123400"/>
          </a:xfrm>
        </p:spPr>
        <p:txBody>
          <a:bodyPr vert="horz" lIns="91440" tIns="45720" rIns="91440" bIns="45720" rtlCol="0" anchor="t">
            <a:normAutofit/>
          </a:bodyPr>
          <a:lstStyle/>
          <a:p>
            <a:r>
              <a:rPr lang="en-US" b="1"/>
              <a:t>Training Instability-</a:t>
            </a:r>
            <a:r>
              <a:rPr lang="en-US" sz="1800" b="1"/>
              <a:t> </a:t>
            </a:r>
            <a:r>
              <a:rPr lang="en-US" sz="1800"/>
              <a:t>Balancing</a:t>
            </a:r>
            <a:r>
              <a:rPr lang="en-US" sz="1800">
                <a:ea typeface="+mj-lt"/>
                <a:cs typeface="+mj-lt"/>
              </a:rPr>
              <a:t> generator and discriminator updates is difficult, leading to unreliable caption quality.</a:t>
            </a:r>
            <a:endParaRPr lang="en-US" sz="1800"/>
          </a:p>
          <a:p>
            <a:pPr>
              <a:buClr>
                <a:srgbClr val="8AD0D6"/>
              </a:buClr>
            </a:pPr>
            <a:r>
              <a:rPr lang="en-US" sz="1800" b="1"/>
              <a:t>High Computational Cost-</a:t>
            </a:r>
            <a:r>
              <a:rPr lang="en-US" sz="1800">
                <a:ea typeface="+mj-lt"/>
                <a:cs typeface="+mj-lt"/>
              </a:rPr>
              <a:t>Complex architectures extend training durations, delaying model development.</a:t>
            </a:r>
            <a:endParaRPr lang="en-US" sz="1800" b="1"/>
          </a:p>
          <a:p>
            <a:pPr>
              <a:buClr>
                <a:srgbClr val="8AD0D6"/>
              </a:buClr>
            </a:pPr>
            <a:r>
              <a:rPr lang="en-US" sz="1800" b="1"/>
              <a:t>Marginal Performance Gains-</a:t>
            </a:r>
            <a:r>
              <a:rPr lang="en-US" sz="1800">
                <a:ea typeface="+mj-lt"/>
                <a:cs typeface="+mj-lt"/>
              </a:rPr>
              <a:t>Enhancements in semantic accuracy are limited, offering minimal benefits for the added complexity.</a:t>
            </a:r>
            <a:endParaRPr lang="en-US" sz="1800" b="1"/>
          </a:p>
          <a:p>
            <a:pPr>
              <a:buClr>
                <a:srgbClr val="8AD0D6"/>
              </a:buClr>
            </a:pPr>
            <a:r>
              <a:rPr lang="en-US" sz="1800" b="1"/>
              <a:t>Maintenance and Scalability Issues-</a:t>
            </a:r>
            <a:r>
              <a:rPr lang="en-US" sz="1800">
                <a:ea typeface="+mj-lt"/>
                <a:cs typeface="+mj-lt"/>
              </a:rPr>
              <a:t>Coordinating model updates is cumbersome, hindering scalability and adaptability.</a:t>
            </a:r>
            <a:endParaRPr lang="en-US" sz="1800" b="1"/>
          </a:p>
        </p:txBody>
      </p:sp>
      <p:sp>
        <p:nvSpPr>
          <p:cNvPr id="5" name="Title 1">
            <a:extLst>
              <a:ext uri="{FF2B5EF4-FFF2-40B4-BE49-F238E27FC236}">
                <a16:creationId xmlns:a16="http://schemas.microsoft.com/office/drawing/2014/main" id="{69490C78-9151-E09C-EFFA-0B6678AC99F7}"/>
              </a:ext>
            </a:extLst>
          </p:cNvPr>
          <p:cNvSpPr txBox="1">
            <a:spLocks/>
          </p:cNvSpPr>
          <p:nvPr/>
        </p:nvSpPr>
        <p:spPr>
          <a:xfrm>
            <a:off x="3854" y="738688"/>
            <a:ext cx="9676864" cy="660009"/>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sz="3600" b="1">
                <a:solidFill>
                  <a:srgbClr val="EBEBEB"/>
                </a:solidFill>
                <a:latin typeface="Century Gothic"/>
              </a:rPr>
              <a:t>Challenges to implement this approach</a:t>
            </a:r>
            <a:endParaRPr lang="en-US" sz="3600">
              <a:solidFill>
                <a:srgbClr val="000000"/>
              </a:solidFill>
              <a:latin typeface="Century Gothic"/>
            </a:endParaRPr>
          </a:p>
          <a:p>
            <a:endParaRPr lang="en-US" sz="4000" b="1">
              <a:solidFill>
                <a:srgbClr val="EBEBEB"/>
              </a:solidFill>
              <a:latin typeface="Aptos"/>
            </a:endParaRPr>
          </a:p>
        </p:txBody>
      </p:sp>
    </p:spTree>
    <p:extLst>
      <p:ext uri="{BB962C8B-B14F-4D97-AF65-F5344CB8AC3E}">
        <p14:creationId xmlns:p14="http://schemas.microsoft.com/office/powerpoint/2010/main" val="1550133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899ADEA-B197-CEC9-46DA-A8979B4149E8}"/>
              </a:ext>
            </a:extLst>
          </p:cNvPr>
          <p:cNvSpPr txBox="1"/>
          <p:nvPr/>
        </p:nvSpPr>
        <p:spPr>
          <a:xfrm>
            <a:off x="2716427" y="2325129"/>
            <a:ext cx="6759145"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b="1"/>
              <a:t>Unified Text-to-Text Format</a:t>
            </a:r>
            <a:r>
              <a:rPr lang="en-US"/>
              <a:t>: T5 converts all NLP tasks into a "text-to-text" format, making it adaptable to a wide range of language processing tasks, including summarization.</a:t>
            </a:r>
          </a:p>
          <a:p>
            <a:pPr marL="228600" indent="-228600">
              <a:buFont typeface=""/>
              <a:buChar char="•"/>
            </a:pPr>
            <a:r>
              <a:rPr lang="en-US" b="1"/>
              <a:t>Versatile Transformer-Based Architecture</a:t>
            </a:r>
            <a:r>
              <a:rPr lang="en-US"/>
              <a:t>: Built on the transformer architecture, T5 leverages its design for efficient language understanding and generation across tasks.</a:t>
            </a:r>
          </a:p>
          <a:p>
            <a:pPr marL="228600" indent="-228600">
              <a:buFont typeface=""/>
              <a:buChar char="•"/>
            </a:pPr>
            <a:r>
              <a:rPr lang="en-US" b="1"/>
              <a:t>Training on Large Datasets</a:t>
            </a:r>
            <a:r>
              <a:rPr lang="en-US"/>
              <a:t>: It is pretrained on diverse, extensive datasets, which helps it understand complex sentence structures and rephrase them concisely.</a:t>
            </a:r>
          </a:p>
          <a:p>
            <a:pPr marL="228600" indent="-228600">
              <a:buFont typeface=""/>
              <a:buChar char="•"/>
            </a:pPr>
            <a:r>
              <a:rPr lang="en-US" b="1"/>
              <a:t>Effective Summarization</a:t>
            </a:r>
            <a:r>
              <a:rPr lang="en-US"/>
              <a:t>: T5 excels at condensing long sentences into shorter, meaningful ones by capturing key information and context.</a:t>
            </a:r>
          </a:p>
        </p:txBody>
      </p:sp>
      <p:sp>
        <p:nvSpPr>
          <p:cNvPr id="12" name="Title 1">
            <a:extLst>
              <a:ext uri="{FF2B5EF4-FFF2-40B4-BE49-F238E27FC236}">
                <a16:creationId xmlns:a16="http://schemas.microsoft.com/office/drawing/2014/main" id="{7CCF634A-CCF1-33E0-6574-C9E4670AD60B}"/>
              </a:ext>
            </a:extLst>
          </p:cNvPr>
          <p:cNvSpPr txBox="1">
            <a:spLocks/>
          </p:cNvSpPr>
          <p:nvPr/>
        </p:nvSpPr>
        <p:spPr>
          <a:xfrm>
            <a:off x="3854" y="409175"/>
            <a:ext cx="8914866" cy="845359"/>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a:t>Approach 3: t5 model approach</a:t>
            </a:r>
          </a:p>
        </p:txBody>
      </p:sp>
      <p:sp>
        <p:nvSpPr>
          <p:cNvPr id="13" name="TextBox 12">
            <a:extLst>
              <a:ext uri="{FF2B5EF4-FFF2-40B4-BE49-F238E27FC236}">
                <a16:creationId xmlns:a16="http://schemas.microsoft.com/office/drawing/2014/main" id="{711E7AAA-288F-F378-4304-44FFC90A489A}"/>
              </a:ext>
            </a:extLst>
          </p:cNvPr>
          <p:cNvSpPr txBox="1"/>
          <p:nvPr/>
        </p:nvSpPr>
        <p:spPr>
          <a:xfrm>
            <a:off x="1781160" y="1711553"/>
            <a:ext cx="318354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latin typeface="Calibri"/>
                <a:ea typeface="Calibri"/>
                <a:cs typeface="Calibri"/>
              </a:rPr>
              <a:t>What is t5 model?</a:t>
            </a:r>
          </a:p>
        </p:txBody>
      </p:sp>
    </p:spTree>
    <p:extLst>
      <p:ext uri="{BB962C8B-B14F-4D97-AF65-F5344CB8AC3E}">
        <p14:creationId xmlns:p14="http://schemas.microsoft.com/office/powerpoint/2010/main" val="3706395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CA456-CD2E-C3D9-4E03-58D325029008}"/>
              </a:ext>
            </a:extLst>
          </p:cNvPr>
          <p:cNvSpPr>
            <a:spLocks noGrp="1"/>
          </p:cNvSpPr>
          <p:nvPr>
            <p:ph type="title"/>
          </p:nvPr>
        </p:nvSpPr>
        <p:spPr>
          <a:xfrm>
            <a:off x="3854" y="409175"/>
            <a:ext cx="8914866" cy="845359"/>
          </a:xfrm>
        </p:spPr>
        <p:style>
          <a:lnRef idx="3">
            <a:schemeClr val="lt1"/>
          </a:lnRef>
          <a:fillRef idx="1">
            <a:schemeClr val="accent2"/>
          </a:fillRef>
          <a:effectRef idx="1">
            <a:schemeClr val="accent2"/>
          </a:effectRef>
          <a:fontRef idx="minor">
            <a:schemeClr val="lt1"/>
          </a:fontRef>
        </p:style>
        <p:txBody>
          <a:bodyPr/>
          <a:lstStyle/>
          <a:p>
            <a:r>
              <a:rPr lang="en-US"/>
              <a:t>Approach 3: T5 model approach</a:t>
            </a:r>
          </a:p>
        </p:txBody>
      </p:sp>
      <p:pic>
        <p:nvPicPr>
          <p:cNvPr id="4" name="Content Placeholder 3" descr="A diagram of a model&#10;&#10;Description automatically generated">
            <a:extLst>
              <a:ext uri="{FF2B5EF4-FFF2-40B4-BE49-F238E27FC236}">
                <a16:creationId xmlns:a16="http://schemas.microsoft.com/office/drawing/2014/main" id="{CAF6B581-23E1-6ABC-1094-FC3FB13DF9D9}"/>
              </a:ext>
            </a:extLst>
          </p:cNvPr>
          <p:cNvPicPr>
            <a:picLocks noGrp="1" noChangeAspect="1"/>
          </p:cNvPicPr>
          <p:nvPr>
            <p:ph idx="1"/>
          </p:nvPr>
        </p:nvPicPr>
        <p:blipFill>
          <a:blip r:embed="rId2"/>
          <a:stretch>
            <a:fillRect/>
          </a:stretch>
        </p:blipFill>
        <p:spPr>
          <a:xfrm>
            <a:off x="3045772" y="1345346"/>
            <a:ext cx="7075478" cy="5338481"/>
          </a:xfrm>
        </p:spPr>
      </p:pic>
    </p:spTree>
    <p:extLst>
      <p:ext uri="{BB962C8B-B14F-4D97-AF65-F5344CB8AC3E}">
        <p14:creationId xmlns:p14="http://schemas.microsoft.com/office/powerpoint/2010/main" val="181262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person in a white dress with a horse&#10;&#10;Description automatically generated">
            <a:extLst>
              <a:ext uri="{FF2B5EF4-FFF2-40B4-BE49-F238E27FC236}">
                <a16:creationId xmlns:a16="http://schemas.microsoft.com/office/drawing/2014/main" id="{E9324075-0CCE-51D3-4A5A-8072359DFD86}"/>
              </a:ext>
            </a:extLst>
          </p:cNvPr>
          <p:cNvPicPr>
            <a:picLocks noGrp="1" noChangeAspect="1"/>
          </p:cNvPicPr>
          <p:nvPr>
            <p:ph idx="1"/>
          </p:nvPr>
        </p:nvPicPr>
        <p:blipFill>
          <a:blip r:embed="rId2"/>
          <a:stretch>
            <a:fillRect/>
          </a:stretch>
        </p:blipFill>
        <p:spPr>
          <a:xfrm>
            <a:off x="2897888" y="1157871"/>
            <a:ext cx="6083103" cy="4195481"/>
          </a:xfrm>
        </p:spPr>
      </p:pic>
      <p:pic>
        <p:nvPicPr>
          <p:cNvPr id="7" name="Picture 6" descr="A close up of black text&#10;&#10;Description automatically generated">
            <a:extLst>
              <a:ext uri="{FF2B5EF4-FFF2-40B4-BE49-F238E27FC236}">
                <a16:creationId xmlns:a16="http://schemas.microsoft.com/office/drawing/2014/main" id="{81165201-CBBD-E598-EDC1-88587153925C}"/>
              </a:ext>
            </a:extLst>
          </p:cNvPr>
          <p:cNvPicPr>
            <a:picLocks noChangeAspect="1"/>
          </p:cNvPicPr>
          <p:nvPr/>
        </p:nvPicPr>
        <p:blipFill>
          <a:blip r:embed="rId3"/>
          <a:stretch>
            <a:fillRect/>
          </a:stretch>
        </p:blipFill>
        <p:spPr>
          <a:xfrm>
            <a:off x="252413" y="5508550"/>
            <a:ext cx="11687175" cy="1114425"/>
          </a:xfrm>
          <a:prstGeom prst="rect">
            <a:avLst/>
          </a:prstGeom>
        </p:spPr>
      </p:pic>
      <p:sp>
        <p:nvSpPr>
          <p:cNvPr id="11" name="Title 1">
            <a:extLst>
              <a:ext uri="{FF2B5EF4-FFF2-40B4-BE49-F238E27FC236}">
                <a16:creationId xmlns:a16="http://schemas.microsoft.com/office/drawing/2014/main" id="{55125DD6-321D-77CC-862C-F4965B6B85EF}"/>
              </a:ext>
            </a:extLst>
          </p:cNvPr>
          <p:cNvSpPr>
            <a:spLocks noGrp="1"/>
          </p:cNvSpPr>
          <p:nvPr>
            <p:ph type="title"/>
          </p:nvPr>
        </p:nvSpPr>
        <p:spPr>
          <a:xfrm>
            <a:off x="3854" y="239842"/>
            <a:ext cx="3266390" cy="760693"/>
          </a:xfrm>
        </p:spPr>
        <p:style>
          <a:lnRef idx="3">
            <a:schemeClr val="lt1"/>
          </a:lnRef>
          <a:fillRef idx="1">
            <a:schemeClr val="accent2"/>
          </a:fillRef>
          <a:effectRef idx="1">
            <a:schemeClr val="accent2"/>
          </a:effectRef>
          <a:fontRef idx="minor">
            <a:schemeClr val="lt1"/>
          </a:fontRef>
        </p:style>
        <p:txBody>
          <a:bodyPr/>
          <a:lstStyle/>
          <a:p>
            <a:r>
              <a:rPr lang="en-US" dirty="0"/>
              <a:t>Example</a:t>
            </a:r>
          </a:p>
        </p:txBody>
      </p:sp>
    </p:spTree>
    <p:extLst>
      <p:ext uri="{BB962C8B-B14F-4D97-AF65-F5344CB8AC3E}">
        <p14:creationId xmlns:p14="http://schemas.microsoft.com/office/powerpoint/2010/main" val="3497963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3754F-0E4F-6EB9-F819-1C555015CC26}"/>
              </a:ext>
            </a:extLst>
          </p:cNvPr>
          <p:cNvSpPr>
            <a:spLocks noGrp="1"/>
          </p:cNvSpPr>
          <p:nvPr>
            <p:ph type="title"/>
          </p:nvPr>
        </p:nvSpPr>
        <p:spPr>
          <a:xfrm>
            <a:off x="3596728" y="439478"/>
            <a:ext cx="6781266" cy="812702"/>
          </a:xfrm>
        </p:spPr>
        <p:txBody>
          <a:bodyPr/>
          <a:lstStyle/>
          <a:p>
            <a:r>
              <a:rPr lang="en-US"/>
              <a:t>Architecture of t5 model</a:t>
            </a:r>
          </a:p>
        </p:txBody>
      </p:sp>
      <p:pic>
        <p:nvPicPr>
          <p:cNvPr id="6" name="Content Placeholder 5" descr="A diagram of a software company&#10;&#10;Description automatically generated">
            <a:extLst>
              <a:ext uri="{FF2B5EF4-FFF2-40B4-BE49-F238E27FC236}">
                <a16:creationId xmlns:a16="http://schemas.microsoft.com/office/drawing/2014/main" id="{F2410A86-3F5B-28B0-0C53-FBBF0F85F062}"/>
              </a:ext>
            </a:extLst>
          </p:cNvPr>
          <p:cNvPicPr>
            <a:picLocks noGrp="1" noChangeAspect="1"/>
          </p:cNvPicPr>
          <p:nvPr>
            <p:ph idx="1"/>
          </p:nvPr>
        </p:nvPicPr>
        <p:blipFill>
          <a:blip r:embed="rId2"/>
          <a:stretch>
            <a:fillRect/>
          </a:stretch>
        </p:blipFill>
        <p:spPr>
          <a:xfrm>
            <a:off x="2339426" y="1475976"/>
            <a:ext cx="7301629" cy="5066337"/>
          </a:xfrm>
        </p:spPr>
      </p:pic>
      <p:sp>
        <p:nvSpPr>
          <p:cNvPr id="5" name="Title 1">
            <a:extLst>
              <a:ext uri="{FF2B5EF4-FFF2-40B4-BE49-F238E27FC236}">
                <a16:creationId xmlns:a16="http://schemas.microsoft.com/office/drawing/2014/main" id="{413D776E-8325-D2BA-E4FC-9DA41C91ECD4}"/>
              </a:ext>
            </a:extLst>
          </p:cNvPr>
          <p:cNvSpPr txBox="1">
            <a:spLocks/>
          </p:cNvSpPr>
          <p:nvPr/>
        </p:nvSpPr>
        <p:spPr>
          <a:xfrm>
            <a:off x="3854" y="440066"/>
            <a:ext cx="3395515" cy="81446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a:t>Approach 3</a:t>
            </a:r>
          </a:p>
        </p:txBody>
      </p:sp>
    </p:spTree>
    <p:extLst>
      <p:ext uri="{BB962C8B-B14F-4D97-AF65-F5344CB8AC3E}">
        <p14:creationId xmlns:p14="http://schemas.microsoft.com/office/powerpoint/2010/main" val="20895020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974C9-F05B-59F3-5BCC-F342A3308894}"/>
              </a:ext>
            </a:extLst>
          </p:cNvPr>
          <p:cNvSpPr>
            <a:spLocks noGrp="1"/>
          </p:cNvSpPr>
          <p:nvPr>
            <p:ph type="title"/>
          </p:nvPr>
        </p:nvSpPr>
        <p:spPr>
          <a:xfrm>
            <a:off x="406625" y="2205318"/>
            <a:ext cx="2742666" cy="2042787"/>
          </a:xfrm>
        </p:spPr>
        <p:style>
          <a:lnRef idx="3">
            <a:schemeClr val="lt1"/>
          </a:lnRef>
          <a:fillRef idx="1">
            <a:schemeClr val="accent2"/>
          </a:fillRef>
          <a:effectRef idx="1">
            <a:schemeClr val="accent2"/>
          </a:effectRef>
          <a:fontRef idx="minor">
            <a:schemeClr val="lt1"/>
          </a:fontRef>
        </p:style>
        <p:txBody>
          <a:bodyPr/>
          <a:lstStyle/>
          <a:p>
            <a:r>
              <a:rPr lang="en-US" b="1"/>
              <a:t>Our Proposed Solution</a:t>
            </a:r>
          </a:p>
        </p:txBody>
      </p:sp>
      <p:pic>
        <p:nvPicPr>
          <p:cNvPr id="4" name="Content Placeholder 3" descr="A screenshot of a diagram&#10;&#10;Description automatically generated">
            <a:extLst>
              <a:ext uri="{FF2B5EF4-FFF2-40B4-BE49-F238E27FC236}">
                <a16:creationId xmlns:a16="http://schemas.microsoft.com/office/drawing/2014/main" id="{3EBB22B6-D0E5-0B7A-0419-04D4E79BDADC}"/>
              </a:ext>
            </a:extLst>
          </p:cNvPr>
          <p:cNvPicPr>
            <a:picLocks noGrp="1" noChangeAspect="1"/>
          </p:cNvPicPr>
          <p:nvPr>
            <p:ph idx="1"/>
          </p:nvPr>
        </p:nvPicPr>
        <p:blipFill>
          <a:blip r:embed="rId2"/>
          <a:stretch>
            <a:fillRect/>
          </a:stretch>
        </p:blipFill>
        <p:spPr>
          <a:xfrm>
            <a:off x="3605808" y="245890"/>
            <a:ext cx="8241405" cy="6176680"/>
          </a:xfrm>
        </p:spPr>
      </p:pic>
    </p:spTree>
    <p:extLst>
      <p:ext uri="{BB962C8B-B14F-4D97-AF65-F5344CB8AC3E}">
        <p14:creationId xmlns:p14="http://schemas.microsoft.com/office/powerpoint/2010/main" val="136224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B6C0238F-BB2B-64D8-FE6D-BBCEDAD92E4F}"/>
              </a:ext>
            </a:extLst>
          </p:cNvPr>
          <p:cNvSpPr txBox="1">
            <a:spLocks/>
          </p:cNvSpPr>
          <p:nvPr/>
        </p:nvSpPr>
        <p:spPr>
          <a:xfrm>
            <a:off x="3854" y="440066"/>
            <a:ext cx="6567082" cy="81446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b="1" dirty="0"/>
              <a:t>Accuracy Comparison</a:t>
            </a:r>
            <a:endParaRPr lang="en-US" dirty="0"/>
          </a:p>
        </p:txBody>
      </p:sp>
      <p:pic>
        <p:nvPicPr>
          <p:cNvPr id="6" name="Content Placeholder 5">
            <a:extLst>
              <a:ext uri="{FF2B5EF4-FFF2-40B4-BE49-F238E27FC236}">
                <a16:creationId xmlns:a16="http://schemas.microsoft.com/office/drawing/2014/main" id="{A6720A5C-8AC0-F6C4-70B4-3E1DE7B802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49089" y="1535364"/>
            <a:ext cx="6844521" cy="4724466"/>
          </a:xfrm>
        </p:spPr>
      </p:pic>
    </p:spTree>
    <p:extLst>
      <p:ext uri="{BB962C8B-B14F-4D97-AF65-F5344CB8AC3E}">
        <p14:creationId xmlns:p14="http://schemas.microsoft.com/office/powerpoint/2010/main" val="3580637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56AEF4-61A6-5D75-C4A1-B9F2CB189322}"/>
              </a:ext>
            </a:extLst>
          </p:cNvPr>
          <p:cNvSpPr>
            <a:spLocks noGrp="1"/>
          </p:cNvSpPr>
          <p:nvPr>
            <p:ph idx="1"/>
          </p:nvPr>
        </p:nvSpPr>
        <p:spPr/>
        <p:txBody>
          <a:bodyPr vert="horz" lIns="91440" tIns="45720" rIns="91440" bIns="45720" rtlCol="0" anchor="t">
            <a:normAutofit/>
          </a:bodyPr>
          <a:lstStyle/>
          <a:p>
            <a:r>
              <a:rPr lang="en-US" sz="2500" dirty="0">
                <a:ea typeface="+mj-lt"/>
                <a:cs typeface="+mj-lt"/>
              </a:rPr>
              <a:t>This project presents a T5-based approach for improving image captioning by summarizing verbose captions. Our findings show that T5 effectively produces concise, semantically accurate captions. Future work will focus on further refining summarization techniques to enhance caption quality.</a:t>
            </a:r>
            <a:endParaRPr lang="en-US" sz="2500" dirty="0"/>
          </a:p>
        </p:txBody>
      </p:sp>
      <p:sp>
        <p:nvSpPr>
          <p:cNvPr id="5" name="Title 1">
            <a:extLst>
              <a:ext uri="{FF2B5EF4-FFF2-40B4-BE49-F238E27FC236}">
                <a16:creationId xmlns:a16="http://schemas.microsoft.com/office/drawing/2014/main" id="{4382EAF8-6786-81BF-98E0-9B4E35163F46}"/>
              </a:ext>
            </a:extLst>
          </p:cNvPr>
          <p:cNvSpPr txBox="1">
            <a:spLocks/>
          </p:cNvSpPr>
          <p:nvPr/>
        </p:nvSpPr>
        <p:spPr>
          <a:xfrm>
            <a:off x="3854" y="440066"/>
            <a:ext cx="3395515" cy="81446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0" anchor="t">
            <a:noAutofit/>
          </a:bodyPr>
          <a:lstStyle>
            <a:lvl1pPr algn="l" defTabSz="457200" rtl="0" eaLnBrk="1" latinLnBrk="0" hangingPunct="1">
              <a:spcBef>
                <a:spcPct val="0"/>
              </a:spcBef>
              <a:buNone/>
              <a:defRPr sz="4200" b="0" i="0" kern="1200">
                <a:solidFill>
                  <a:schemeClr val="lt1"/>
                </a:solidFill>
                <a:latin typeface="+mn-lt"/>
                <a:ea typeface="+mn-ea"/>
                <a:cs typeface="+mn-cs"/>
              </a:defRPr>
            </a:lvl1pPr>
            <a:lvl2pPr eaLnBrk="1" hangingPunct="1">
              <a:defRPr>
                <a:solidFill>
                  <a:schemeClr val="lt1"/>
                </a:solidFill>
                <a:latin typeface="+mn-lt"/>
                <a:ea typeface="+mn-ea"/>
                <a:cs typeface="+mn-cs"/>
              </a:defRPr>
            </a:lvl2pPr>
            <a:lvl3pPr eaLnBrk="1" hangingPunct="1">
              <a:defRPr>
                <a:solidFill>
                  <a:schemeClr val="lt1"/>
                </a:solidFill>
                <a:latin typeface="+mn-lt"/>
                <a:ea typeface="+mn-ea"/>
                <a:cs typeface="+mn-cs"/>
              </a:defRPr>
            </a:lvl3pPr>
            <a:lvl4pPr eaLnBrk="1" hangingPunct="1">
              <a:defRPr>
                <a:solidFill>
                  <a:schemeClr val="lt1"/>
                </a:solidFill>
                <a:latin typeface="+mn-lt"/>
                <a:ea typeface="+mn-ea"/>
                <a:cs typeface="+mn-cs"/>
              </a:defRPr>
            </a:lvl4pPr>
            <a:lvl5pPr eaLnBrk="1" hangingPunct="1">
              <a:defRPr>
                <a:solidFill>
                  <a:schemeClr val="lt1"/>
                </a:solidFill>
                <a:latin typeface="+mn-lt"/>
                <a:ea typeface="+mn-ea"/>
                <a:cs typeface="+mn-cs"/>
              </a:defRPr>
            </a:lvl5pPr>
            <a:lvl6pPr eaLnBrk="1" hangingPunct="1">
              <a:defRPr>
                <a:solidFill>
                  <a:schemeClr val="lt1"/>
                </a:solidFill>
                <a:latin typeface="+mn-lt"/>
                <a:ea typeface="+mn-ea"/>
                <a:cs typeface="+mn-cs"/>
              </a:defRPr>
            </a:lvl6pPr>
            <a:lvl7pPr eaLnBrk="1" hangingPunct="1">
              <a:defRPr>
                <a:solidFill>
                  <a:schemeClr val="lt1"/>
                </a:solidFill>
                <a:latin typeface="+mn-lt"/>
                <a:ea typeface="+mn-ea"/>
                <a:cs typeface="+mn-cs"/>
              </a:defRPr>
            </a:lvl7pPr>
            <a:lvl8pPr eaLnBrk="1" hangingPunct="1">
              <a:defRPr>
                <a:solidFill>
                  <a:schemeClr val="lt1"/>
                </a:solidFill>
                <a:latin typeface="+mn-lt"/>
                <a:ea typeface="+mn-ea"/>
                <a:cs typeface="+mn-cs"/>
              </a:defRPr>
            </a:lvl8pPr>
            <a:lvl9pPr eaLnBrk="1" hangingPunct="1">
              <a:defRPr>
                <a:solidFill>
                  <a:schemeClr val="lt1"/>
                </a:solidFill>
                <a:latin typeface="+mn-lt"/>
                <a:ea typeface="+mn-ea"/>
                <a:cs typeface="+mn-cs"/>
              </a:defRPr>
            </a:lvl9pPr>
          </a:lstStyle>
          <a:p>
            <a:r>
              <a:rPr lang="en-US" b="1" dirty="0"/>
              <a:t>Conclusion</a:t>
            </a:r>
          </a:p>
        </p:txBody>
      </p:sp>
    </p:spTree>
    <p:extLst>
      <p:ext uri="{BB962C8B-B14F-4D97-AF65-F5344CB8AC3E}">
        <p14:creationId xmlns:p14="http://schemas.microsoft.com/office/powerpoint/2010/main" val="41361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3BA3-D386-B442-B866-4D12C84FC999}"/>
              </a:ext>
            </a:extLst>
          </p:cNvPr>
          <p:cNvSpPr>
            <a:spLocks noGrp="1"/>
          </p:cNvSpPr>
          <p:nvPr>
            <p:ph type="title"/>
          </p:nvPr>
        </p:nvSpPr>
        <p:spPr>
          <a:xfrm>
            <a:off x="646111" y="452718"/>
            <a:ext cx="9662155" cy="875368"/>
          </a:xfrm>
        </p:spPr>
        <p:txBody>
          <a:bodyPr/>
          <a:lstStyle/>
          <a:p>
            <a:endParaRPr lang="en-US"/>
          </a:p>
        </p:txBody>
      </p:sp>
      <p:sp>
        <p:nvSpPr>
          <p:cNvPr id="3" name="Content Placeholder 2">
            <a:extLst>
              <a:ext uri="{FF2B5EF4-FFF2-40B4-BE49-F238E27FC236}">
                <a16:creationId xmlns:a16="http://schemas.microsoft.com/office/drawing/2014/main" id="{547AA9EF-A1A5-D21C-52C2-1582EC4B2875}"/>
              </a:ext>
            </a:extLst>
          </p:cNvPr>
          <p:cNvSpPr>
            <a:spLocks noGrp="1"/>
          </p:cNvSpPr>
          <p:nvPr>
            <p:ph idx="1"/>
          </p:nvPr>
        </p:nvSpPr>
        <p:spPr>
          <a:xfrm>
            <a:off x="650231" y="1321810"/>
            <a:ext cx="9389324" cy="4277859"/>
          </a:xfrm>
        </p:spPr>
        <p:txBody>
          <a:bodyPr vert="horz" lIns="91440" tIns="45720" rIns="91440" bIns="45720" rtlCol="0" anchor="t">
            <a:normAutofit/>
          </a:bodyPr>
          <a:lstStyle/>
          <a:p>
            <a:endParaRPr lang="en-US"/>
          </a:p>
          <a:p>
            <a:pPr>
              <a:buClr>
                <a:srgbClr val="8AD0D6"/>
              </a:buClr>
            </a:pPr>
            <a:endParaRPr lang="en-US"/>
          </a:p>
          <a:p>
            <a:pPr marL="0" indent="0">
              <a:buClr>
                <a:srgbClr val="8AD0D6"/>
              </a:buClr>
              <a:buNone/>
            </a:pPr>
            <a:r>
              <a:rPr lang="en-US"/>
              <a:t>  </a:t>
            </a:r>
            <a:r>
              <a:rPr lang="en-US">
                <a:solidFill>
                  <a:srgbClr val="FFFF00"/>
                </a:solidFill>
              </a:rPr>
              <a:t>                       </a:t>
            </a:r>
            <a:r>
              <a:rPr lang="en-US" sz="7200" b="1" i="1">
                <a:solidFill>
                  <a:srgbClr val="FFFF00"/>
                </a:solidFill>
              </a:rPr>
              <a:t>THANK YOU</a:t>
            </a:r>
          </a:p>
        </p:txBody>
      </p:sp>
      <p:sp>
        <p:nvSpPr>
          <p:cNvPr id="5" name="TextBox 4">
            <a:extLst>
              <a:ext uri="{FF2B5EF4-FFF2-40B4-BE49-F238E27FC236}">
                <a16:creationId xmlns:a16="http://schemas.microsoft.com/office/drawing/2014/main" id="{9B806E06-38C8-EDC5-7E0E-11006E021CFA}"/>
              </a:ext>
            </a:extLst>
          </p:cNvPr>
          <p:cNvSpPr txBox="1"/>
          <p:nvPr/>
        </p:nvSpPr>
        <p:spPr>
          <a:xfrm>
            <a:off x="3048953" y="3232904"/>
            <a:ext cx="6097904" cy="369332"/>
          </a:xfrm>
          <a:prstGeom prst="rect">
            <a:avLst/>
          </a:prstGeom>
          <a:noFill/>
        </p:spPr>
        <p:txBody>
          <a:bodyPr wrap="square">
            <a:spAutoFit/>
          </a:bodyPr>
          <a:lstStyle/>
          <a:p>
            <a:pPr marL="228600" algn="ctr"/>
            <a:r>
              <a:rPr lang="en-US" sz="1800" i="1" dirty="0">
                <a:effectLst/>
                <a:latin typeface="Times New Roman" panose="02020603050405020304" pitchFamily="18" charset="0"/>
                <a:ea typeface="SimSun" panose="02010600030101010101" pitchFamily="2" charset="-122"/>
              </a:rPr>
              <a:t>Fig. 6 shows a sample(2) image for the new model</a:t>
            </a:r>
            <a:endParaRPr lang="en-IN" sz="20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32909860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office theme</Template>
  <TotalTime>1</TotalTime>
  <Words>505</Words>
  <Application>Microsoft Office PowerPoint</Application>
  <PresentationFormat>Widescreen</PresentationFormat>
  <Paragraphs>61</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Calibri</vt:lpstr>
      <vt:lpstr>Century Gothic</vt:lpstr>
      <vt:lpstr>Times New Roman</vt:lpstr>
      <vt:lpstr>Wingdings 3</vt:lpstr>
      <vt:lpstr>Ion</vt:lpstr>
      <vt:lpstr>Image Captioning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Approach 3: T5 model approach</vt:lpstr>
      <vt:lpstr>Example</vt:lpstr>
      <vt:lpstr>Architecture of t5 model</vt:lpstr>
      <vt:lpstr>Our Proposed Solution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Name and TA</dc:title>
  <dc:creator>Mani Deep</dc:creator>
  <cp:lastModifiedBy>G, Mani Deep</cp:lastModifiedBy>
  <cp:revision>92</cp:revision>
  <dcterms:created xsi:type="dcterms:W3CDTF">2024-09-08T12:53:13Z</dcterms:created>
  <dcterms:modified xsi:type="dcterms:W3CDTF">2024-11-12T12:55:34Z</dcterms:modified>
</cp:coreProperties>
</file>